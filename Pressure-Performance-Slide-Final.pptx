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0000"/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A3515C-25F6-442C-9299-61315846666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57817B-ADEB-43C0-92AD-C05E9827F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94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6687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943600"/>
            <a:ext cx="3676650" cy="4381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6250"/>
            <a:ext cx="419100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0"/>
            <a:ext cx="67056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0"/>
            <a:ext cx="67056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0"/>
            <a:ext cx="67056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181100"/>
            <a:ext cx="39909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88C8F"/>
                </a:solidFill>
                <a:latin typeface="Inter"/>
              </a:rPr>
              <a:t>ENGINEERING PRESENTATION • MATLAB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504950"/>
            <a:ext cx="558165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0" i="0" u="none" dirty="0">
                <a:solidFill>
                  <a:srgbClr val="FFFFFF"/>
                </a:solidFill>
                <a:latin typeface="Inter ExtraBold"/>
              </a:rPr>
              <a:t>PRESSURE</a:t>
            </a:r>
            <a:r>
              <a:rPr sz="4400" b="0" i="0" u="none" dirty="0">
                <a:solidFill>
                  <a:srgbClr val="000000"/>
                </a:solidFill>
                <a:latin typeface="Inter"/>
              </a:rPr>
              <a:t> </a:t>
            </a:r>
            <a:r>
              <a:rPr sz="4400" b="0" i="0" u="none" dirty="0">
                <a:solidFill>
                  <a:srgbClr val="E63946"/>
                </a:solidFill>
                <a:latin typeface="Inter Black"/>
              </a:rP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086100"/>
            <a:ext cx="592827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1" u="none">
                <a:solidFill>
                  <a:srgbClr val="E5B3B5"/>
                </a:solidFill>
                <a:latin typeface="Inter"/>
              </a:rPr>
              <a:t>Statistical and Stochastic Analysis of Athletic Performance Under 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886200"/>
            <a:ext cx="514350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200" b="0" i="0" u="none" dirty="0">
                <a:solidFill>
                  <a:srgbClr val="CBB2B4"/>
                </a:solidFill>
                <a:latin typeface="Inter"/>
              </a:rPr>
              <a:t>A MATLAB-based engineering project that investigates whether NBA players perform significantly worse under clutch pressure using Bernoulli modeling, hypothesis testing, </a:t>
            </a:r>
            <a:r>
              <a:rPr lang="en-US" sz="1200" b="0" i="0" u="none" dirty="0">
                <a:solidFill>
                  <a:srgbClr val="CBB2B4"/>
                </a:solidFill>
                <a:latin typeface="Inter"/>
              </a:rPr>
              <a:t>bootstrap resampling, </a:t>
            </a:r>
            <a:r>
              <a:rPr sz="1200" b="0" i="0" u="none" dirty="0">
                <a:solidFill>
                  <a:srgbClr val="CBB2B4"/>
                </a:solidFill>
                <a:latin typeface="Inter"/>
              </a:rPr>
              <a:t>and player-level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6076950"/>
            <a:ext cx="3124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0CFD1"/>
                </a:solidFill>
                <a:latin typeface="Inter Medium"/>
              </a:rPr>
              <a:t>NBA Free-Throw Data | 2006–07 to 2015–16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6293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OUR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engineering study of clutch free throws using MATLAB.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246120" cy="4160520"/>
          </a:xfrm>
          <a:prstGeom prst="roundRect">
            <a:avLst>
              <a:gd name="adj" fmla="val 2254"/>
            </a:avLst>
          </a:prstGeom>
          <a:solidFill>
            <a:srgbClr val="FDF3F1"/>
          </a:solidFill>
          <a:ln/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07363" y="1874520"/>
            <a:ext cx="1997477" cy="22357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3200" b="1" kern="0" spc="1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               CONCEPT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46177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context: free throws under pressure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5212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throws → binary data → statistical evidence.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23360" y="1691640"/>
            <a:ext cx="365760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F7DEDA"/>
            </a:solidFill>
            <a:prstDash val="solid"/>
          </a:ln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1947672"/>
            <a:ext cx="502920" cy="502920"/>
          </a:xfrm>
          <a:prstGeom prst="ellipse">
            <a:avLst/>
          </a:prstGeom>
          <a:solidFill>
            <a:srgbClr val="3D1414"/>
          </a:solidFill>
          <a:ln/>
        </p:spPr>
      </p:sp>
      <p:sp>
        <p:nvSpPr>
          <p:cNvPr id="12" name="Text 9"/>
          <p:cNvSpPr/>
          <p:nvPr/>
        </p:nvSpPr>
        <p:spPr>
          <a:xfrm>
            <a:off x="4251960" y="1938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30" dirty="0"/>
          </a:p>
        </p:txBody>
      </p:sp>
      <p:sp>
        <p:nvSpPr>
          <p:cNvPr id="13" name="Text 10"/>
          <p:cNvSpPr/>
          <p:nvPr/>
        </p:nvSpPr>
        <p:spPr>
          <a:xfrm>
            <a:off x="4937760" y="1892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937760" y="2221992"/>
            <a:ext cx="2560320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players shoot worse under clutch pressure?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955280" y="1691640"/>
            <a:ext cx="365760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F7DEDA"/>
            </a:solidFill>
            <a:prstDash val="solid"/>
          </a:ln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183880" y="194767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4"/>
          <p:cNvSpPr/>
          <p:nvPr/>
        </p:nvSpPr>
        <p:spPr>
          <a:xfrm>
            <a:off x="8183880" y="1938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30" dirty="0"/>
          </a:p>
        </p:txBody>
      </p:sp>
      <p:sp>
        <p:nvSpPr>
          <p:cNvPr id="18" name="Text 15"/>
          <p:cNvSpPr/>
          <p:nvPr/>
        </p:nvSpPr>
        <p:spPr>
          <a:xfrm>
            <a:off x="8869680" y="1892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Variable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869680" y="2221992"/>
            <a:ext cx="2560320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FT = 1, Missed FT = 0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023360" y="3909060"/>
            <a:ext cx="365760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F7DEDA"/>
            </a:solidFill>
            <a:prstDash val="solid"/>
          </a:ln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251960" y="4165092"/>
            <a:ext cx="502920" cy="502920"/>
          </a:xfrm>
          <a:prstGeom prst="ellipse">
            <a:avLst/>
          </a:prstGeom>
          <a:solidFill>
            <a:srgbClr val="3D1414"/>
          </a:solidFill>
          <a:ln/>
        </p:spPr>
      </p:sp>
      <p:sp>
        <p:nvSpPr>
          <p:cNvPr id="22" name="Text 19"/>
          <p:cNvSpPr/>
          <p:nvPr/>
        </p:nvSpPr>
        <p:spPr>
          <a:xfrm>
            <a:off x="4251960" y="41559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430" dirty="0"/>
          </a:p>
        </p:txBody>
      </p:sp>
      <p:sp>
        <p:nvSpPr>
          <p:cNvPr id="23" name="Text 20"/>
          <p:cNvSpPr/>
          <p:nvPr/>
        </p:nvSpPr>
        <p:spPr>
          <a:xfrm>
            <a:off x="4937760" y="41102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Model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937760" y="4439412"/>
            <a:ext cx="2560320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Xᵢ ~ Bernoulli(p)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955280" y="3909060"/>
            <a:ext cx="365760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F7DEDA"/>
            </a:solidFill>
            <a:prstDash val="solid"/>
          </a:ln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183880" y="416509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7" name="Text 24"/>
          <p:cNvSpPr/>
          <p:nvPr/>
        </p:nvSpPr>
        <p:spPr>
          <a:xfrm>
            <a:off x="8183880" y="41559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430" dirty="0"/>
          </a:p>
        </p:txBody>
      </p:sp>
      <p:sp>
        <p:nvSpPr>
          <p:cNvPr id="28" name="Text 25"/>
          <p:cNvSpPr/>
          <p:nvPr/>
        </p:nvSpPr>
        <p:spPr>
          <a:xfrm>
            <a:off x="8869680" y="41102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Output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8869680" y="4439412"/>
            <a:ext cx="2560320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CI, z-test, bootstrap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3D1414"/>
          </a:solidFill>
          <a:ln/>
        </p:spPr>
      </p:sp>
      <p:sp>
        <p:nvSpPr>
          <p:cNvPr id="31" name="Text 28"/>
          <p:cNvSpPr/>
          <p:nvPr/>
        </p:nvSpPr>
        <p:spPr>
          <a:xfrm>
            <a:off x="868680" y="5989320"/>
            <a:ext cx="10451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 pressure effect is tested as a stochastic signal, not an opinion.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Performance | NBA Free Throws | MATLAB-based analysis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11414455" y="6382512"/>
            <a:ext cx="347472" cy="347472"/>
          </a:xfrm>
          <a:prstGeom prst="ellipse">
            <a:avLst/>
          </a:prstGeom>
          <a:solidFill>
            <a:srgbClr val="3D1414"/>
          </a:solidFill>
          <a:ln/>
        </p:spPr>
      </p:sp>
      <p:sp>
        <p:nvSpPr>
          <p:cNvPr id="34" name="Text 31"/>
          <p:cNvSpPr/>
          <p:nvPr/>
        </p:nvSpPr>
        <p:spPr>
          <a:xfrm>
            <a:off x="11414455" y="6382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RESEARCH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Athletes Perform Worse Under Pressure?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analyze whether “clutch pressure” changes NBA free-throw success, and whether any apparent effect is stable or mainly caused by limited sample size.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7DEDA"/>
            </a:solidFill>
            <a:prstDash val="solid"/>
          </a:ln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542032"/>
            <a:ext cx="502920" cy="502920"/>
          </a:xfrm>
          <a:prstGeom prst="ellipse">
            <a:avLst/>
          </a:prstGeom>
          <a:solidFill>
            <a:srgbClr val="3D1414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532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804672" y="3182112"/>
            <a:ext cx="3054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Phenomenon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3474720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Clutch vs. non-clutch free throws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22860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7DEDA"/>
            </a:solidFill>
            <a:prstDash val="solid"/>
          </a:ln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54203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532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4572000" y="3182112"/>
            <a:ext cx="3054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Question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0" y="3474720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or statistical noise?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83296" y="22860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7DEDA"/>
            </a:solidFill>
            <a:prstDash val="solid"/>
          </a:ln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9328" y="2542032"/>
            <a:ext cx="502920" cy="50292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328" y="2532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8339328" y="3182112"/>
            <a:ext cx="3054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39328" y="3474720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drop, not dramatic collapse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DF3F1"/>
          </a:solidFill>
          <a:ln/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325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663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 :  mean(Clutch FT% − Non-Clutch FT%) = 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26480" y="4663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 :  mean(Clutch FT% − Non-Clutch FT%) &lt; 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3D1414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806440"/>
            <a:ext cx="10451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implication: quantify whether the pressure effect is a real signal or just variability.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Performance | NBA Free Throws, 2006–07 to 2015–16 | MATLAB-based analysis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414455" y="6382512"/>
            <a:ext cx="347472" cy="347472"/>
          </a:xfrm>
          <a:prstGeom prst="ellipse">
            <a:avLst/>
          </a:prstGeom>
          <a:solidFill>
            <a:srgbClr val="3D1414"/>
          </a:solidFill>
          <a:ln/>
        </p:spPr>
      </p:sp>
      <p:sp>
        <p:nvSpPr>
          <p:cNvPr id="28" name="Text 26"/>
          <p:cNvSpPr/>
          <p:nvPr/>
        </p:nvSpPr>
        <p:spPr>
          <a:xfrm>
            <a:off x="11414455" y="6382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Must Be Corrected Before Testing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7DEDA"/>
            </a:solidFill>
            <a:prstDash val="solid"/>
          </a:ln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09928"/>
            <a:ext cx="411480" cy="411480"/>
          </a:xfrm>
          <a:prstGeom prst="ellipse">
            <a:avLst/>
          </a:prstGeom>
          <a:solidFill>
            <a:srgbClr val="3D141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0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170" dirty="0"/>
          </a:p>
        </p:txBody>
      </p:sp>
      <p:sp>
        <p:nvSpPr>
          <p:cNvPr id="7" name="Text 5"/>
          <p:cNvSpPr/>
          <p:nvPr/>
        </p:nvSpPr>
        <p:spPr>
          <a:xfrm>
            <a:off x="1325880" y="17282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STRUCTURE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 player-season records covering 200 unique players.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include total attempts, total FT%, clutch attempts, and clutch FT%.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season and playoff statistics are reported separately.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5352" y="150876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7DEDA"/>
            </a:solidFill>
            <a:prstDash val="solid"/>
          </a:ln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1709928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700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7022592" y="1728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ISSUE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73952" y="21945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Season-total FT% already includes clutch attempts.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playoff clutch attempts are treated as missing observations, not true 0% shooting.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comparison of total FT% vs clutch FT% would partially compare the same attempts against themselves.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BASELINE / MATLAB CORRECTION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7406640" cy="1600200"/>
          </a:xfrm>
          <a:prstGeom prst="roundRect">
            <a:avLst>
              <a:gd name="adj" fmla="val 3429"/>
            </a:avLst>
          </a:prstGeom>
          <a:solidFill>
            <a:srgbClr val="1F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4407408"/>
            <a:ext cx="7077456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 err="1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RegTotMakes</a:t>
            </a:r>
            <a:r>
              <a:rPr lang="en-US" sz="11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= round(T.RegFTpct .* T.RegTotAtt);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 err="1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RegClMakes</a:t>
            </a:r>
            <a:r>
              <a:rPr lang="en-US" sz="11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round(T.RegClFTpct .* T.RegClAtt);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T.RegNonClAtt   = T.RegTotAtt - T.RegClAtt;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T.RegNonClMakes = RegTotMakes - RegClMakes;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T.RegNonClFTpct = T.RegNonClMakes ./ T.RegNonClAtt;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0" y="4297680"/>
            <a:ext cx="299923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Performance | NBA Free Throws, 2006–07 to 2015–16 | MATLAB-based analysis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414455" y="6382512"/>
            <a:ext cx="347472" cy="347472"/>
          </a:xfrm>
          <a:prstGeom prst="ellipse">
            <a:avLst/>
          </a:prstGeom>
          <a:solidFill>
            <a:srgbClr val="3D1414"/>
          </a:solidFill>
          <a:ln/>
        </p:spPr>
      </p:sp>
      <p:sp>
        <p:nvSpPr>
          <p:cNvPr id="21" name="Text 19"/>
          <p:cNvSpPr/>
          <p:nvPr/>
        </p:nvSpPr>
        <p:spPr>
          <a:xfrm>
            <a:off x="11414455" y="6382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STOCHASTIC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Attempt is a Bernoulli Random Variable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stochastic component is valid at the aggregated level supported by the dataset.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1874520"/>
          </a:xfrm>
          <a:prstGeom prst="roundRect">
            <a:avLst>
              <a:gd name="adj" fmla="val 3902"/>
            </a:avLst>
          </a:prstGeom>
          <a:solidFill>
            <a:srgbClr val="3D141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Xᵢ ~ Bernoulli(p)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4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X₁, X₂, …, Xₙ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C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Xᵢ = 1  if the free throw is made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75552" y="3108960"/>
            <a:ext cx="2371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C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Xᵢ = 0  if the free throw is missed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E[Xᵢ] = p        Var[Xᵢ] = p(1−p)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7DEDA"/>
            </a:solidFill>
            <a:prstDash val="solid"/>
          </a:ln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315968"/>
            <a:ext cx="411480" cy="411480"/>
          </a:xfrm>
          <a:prstGeom prst="ellipse">
            <a:avLst/>
          </a:prstGeom>
          <a:solidFill>
            <a:srgbClr val="3D141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06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1325880" y="43342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ASSUMPTION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773168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are treated as Bernoulli observations under each condition. The spreadsheet gives aggregated makes/attempts, so chronological lag correlation cannot be measured.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45352" y="41148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7DEDA"/>
            </a:solidFill>
            <a:prstDash val="solid"/>
          </a:ln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4315968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4306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022592" y="433425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INTEGRITY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73952" y="4773168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state the data limitation instead of inventing a stochastic pattern the data cannot support.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Performance | NBA Free Throws, 2006–07 to 2015–16 | MATLAB-based analysis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414455" y="6382512"/>
            <a:ext cx="347472" cy="347472"/>
          </a:xfrm>
          <a:prstGeom prst="ellipse">
            <a:avLst/>
          </a:prstGeom>
          <a:solidFill>
            <a:srgbClr val="3D1414"/>
          </a:solidFill>
          <a:ln/>
        </p:spPr>
      </p:sp>
      <p:sp>
        <p:nvSpPr>
          <p:cNvPr id="23" name="Text 21"/>
          <p:cNvSpPr/>
          <p:nvPr/>
        </p:nvSpPr>
        <p:spPr>
          <a:xfrm>
            <a:off x="11414455" y="6382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MATLAB Workflow: From Data to Inference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443446" cy="777240"/>
          </a:xfrm>
          <a:prstGeom prst="roundRect">
            <a:avLst>
              <a:gd name="adj" fmla="val 9412"/>
            </a:avLst>
          </a:prstGeom>
          <a:solidFill>
            <a:srgbClr val="3D141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1443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992086" y="160020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0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56678" y="1600200"/>
            <a:ext cx="1443446" cy="777240"/>
          </a:xfrm>
          <a:prstGeom prst="roundRect">
            <a:avLst>
              <a:gd name="adj" fmla="val 9412"/>
            </a:avLst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2156678" y="1600200"/>
            <a:ext cx="1443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00123" y="160020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0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64715" y="1600200"/>
            <a:ext cx="1443446" cy="777240"/>
          </a:xfrm>
          <a:prstGeom prst="roundRect">
            <a:avLst>
              <a:gd name="adj" fmla="val 9412"/>
            </a:avLst>
          </a:prstGeom>
          <a:solidFill>
            <a:srgbClr val="3D1414"/>
          </a:solidFill>
          <a:ln/>
        </p:spPr>
      </p:sp>
      <p:sp>
        <p:nvSpPr>
          <p:cNvPr id="11" name="Text 9"/>
          <p:cNvSpPr/>
          <p:nvPr/>
        </p:nvSpPr>
        <p:spPr>
          <a:xfrm>
            <a:off x="3764715" y="1600200"/>
            <a:ext cx="1443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Non-Clutch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08161" y="160020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0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72753" y="1600200"/>
            <a:ext cx="1443446" cy="777240"/>
          </a:xfrm>
          <a:prstGeom prst="roundRect">
            <a:avLst>
              <a:gd name="adj" fmla="val 9412"/>
            </a:avLst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5372753" y="1600200"/>
            <a:ext cx="1443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Var, CI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16199" y="160020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0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80791" y="1600200"/>
            <a:ext cx="1443446" cy="777240"/>
          </a:xfrm>
          <a:prstGeom prst="roundRect">
            <a:avLst>
              <a:gd name="adj" fmla="val 9412"/>
            </a:avLst>
          </a:prstGeom>
          <a:solidFill>
            <a:srgbClr val="3D1414"/>
          </a:solidFill>
          <a:ln/>
        </p:spPr>
      </p:sp>
      <p:sp>
        <p:nvSpPr>
          <p:cNvPr id="17" name="Text 15"/>
          <p:cNvSpPr/>
          <p:nvPr/>
        </p:nvSpPr>
        <p:spPr>
          <a:xfrm>
            <a:off x="6980791" y="1600200"/>
            <a:ext cx="1443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24237" y="160020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0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88829" y="1600200"/>
            <a:ext cx="1443446" cy="777240"/>
          </a:xfrm>
          <a:prstGeom prst="roundRect">
            <a:avLst>
              <a:gd name="adj" fmla="val 9412"/>
            </a:avLst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8588829" y="1600200"/>
            <a:ext cx="1443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32274" y="160020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0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196866" y="1600200"/>
            <a:ext cx="1443446" cy="777240"/>
          </a:xfrm>
          <a:prstGeom prst="roundRect">
            <a:avLst>
              <a:gd name="adj" fmla="val 9412"/>
            </a:avLst>
          </a:prstGeom>
          <a:solidFill>
            <a:srgbClr val="3D1414"/>
          </a:solidFill>
          <a:ln/>
        </p:spPr>
      </p:sp>
      <p:sp>
        <p:nvSpPr>
          <p:cNvPr id="23" name="Text 21"/>
          <p:cNvSpPr/>
          <p:nvPr/>
        </p:nvSpPr>
        <p:spPr>
          <a:xfrm>
            <a:off x="10196866" y="1600200"/>
            <a:ext cx="1443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AND CLEANING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2971800"/>
            <a:ext cx="3566160" cy="2926080"/>
          </a:xfrm>
          <a:prstGeom prst="roundRect">
            <a:avLst>
              <a:gd name="adj" fmla="val 1875"/>
            </a:avLst>
          </a:prstGeom>
          <a:solidFill>
            <a:srgbClr val="1F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081528"/>
            <a:ext cx="3236976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readtable(dataFile, ...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'VariableNamingRule', 'preserve', ...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'TextType', 'string');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T.RegClFTpct(T.RegClAtt == 0) = NaN;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T.PoClFTpct(T.PoClAtt == 0) = NaN;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15968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 SUMMARY AND Z-TEST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15968" y="2971800"/>
            <a:ext cx="3566160" cy="2926080"/>
          </a:xfrm>
          <a:prstGeom prst="roundRect">
            <a:avLst>
              <a:gd name="adj" fmla="val 1875"/>
            </a:avLst>
          </a:prstGeom>
          <a:solidFill>
            <a:srgbClr val="1F0A0A"/>
          </a:solidFill>
          <a:ln/>
        </p:spPr>
      </p:sp>
      <p:sp>
        <p:nvSpPr>
          <p:cNvPr id="29" name="Text 27"/>
          <p:cNvSpPr/>
          <p:nvPr/>
        </p:nvSpPr>
        <p:spPr>
          <a:xfrm>
            <a:off x="4480560" y="3081528"/>
            <a:ext cx="3236976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[pRegCl, vRegCl, ciRegCl] = ...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bernoulliSummary(regClM, regClN, ...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alphaLevel);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[zReg, pRegTwo, pRegChoke, ...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pooledRegDiff] = twoPropTests( ...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regClM, regClN, regNonM, regNonN);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83296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PLAYER-LEVEL BOOTSTRAP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83296" y="2971800"/>
            <a:ext cx="3557016" cy="2926080"/>
          </a:xfrm>
          <a:prstGeom prst="roundRect">
            <a:avLst>
              <a:gd name="adj" fmla="val 1875"/>
            </a:avLst>
          </a:prstGeom>
          <a:solidFill>
            <a:srgbClr val="1F0A0A"/>
          </a:solidFill>
          <a:ln/>
        </p:spPr>
      </p:sp>
      <p:sp>
        <p:nvSpPr>
          <p:cNvPr id="32" name="Text 30"/>
          <p:cNvSpPr/>
          <p:nvPr/>
        </p:nvSpPr>
        <p:spPr>
          <a:xfrm>
            <a:off x="8247888" y="3081528"/>
            <a:ext cx="3227832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b = 1:bootstrapReps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idx = randi(nPlayers, ...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nPlayers, 1);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bootMeanDiff(b) = ...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mean(Pf.Diff(idx), ...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'omitnan');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bootCI = prctile( ...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bootMeanDiff, [2.5 97.5]);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Performance | NBA Free Throws, 2006–07 to 2015–16 | MATLAB-based analysis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414455" y="6382512"/>
            <a:ext cx="347472" cy="347472"/>
          </a:xfrm>
          <a:prstGeom prst="ellipse">
            <a:avLst/>
          </a:prstGeom>
          <a:solidFill>
            <a:srgbClr val="3D1414"/>
          </a:solidFill>
          <a:ln/>
        </p:spPr>
      </p:sp>
      <p:sp>
        <p:nvSpPr>
          <p:cNvPr id="35" name="Text 33"/>
          <p:cNvSpPr/>
          <p:nvPr/>
        </p:nvSpPr>
        <p:spPr>
          <a:xfrm>
            <a:off x="11414455" y="6382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Pooled Bernoulli Result: Attempt-Weighted 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 success probability with 95% Wilson CI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309360" cy="3794760"/>
          </a:xfrm>
          <a:prstGeom prst="roundRect">
            <a:avLst>
              <a:gd name="adj" fmla="val 1928"/>
            </a:avLst>
          </a:prstGeom>
          <a:solidFill>
            <a:srgbClr val="FDF3F1"/>
          </a:solidFill>
          <a:ln/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pic>
        <p:nvPicPr>
          <p:cNvPr id="6" name="Image 0" descr="/home/claude/assets/chart_bernoull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965960"/>
            <a:ext cx="5852160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86600" y="1783080"/>
            <a:ext cx="216255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7DEDA"/>
            </a:solidFill>
            <a:prstDash val="solid"/>
          </a:ln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223760" y="1965960"/>
            <a:ext cx="18882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77.16%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7223760" y="2606040"/>
            <a:ext cx="18882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NON-CLUTCH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223760" y="2898648"/>
            <a:ext cx="18882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92,862 / 120,353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477756" y="1783080"/>
            <a:ext cx="2162556" cy="1737360"/>
          </a:xfrm>
          <a:prstGeom prst="roundRect">
            <a:avLst>
              <a:gd name="adj" fmla="val 4211"/>
            </a:avLst>
          </a:prstGeom>
          <a:solidFill>
            <a:srgbClr val="FBDADA"/>
          </a:solidFill>
          <a:ln w="12700">
            <a:solidFill>
              <a:srgbClr val="F7DEDA"/>
            </a:solidFill>
            <a:prstDash val="solid"/>
          </a:ln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614916" y="1965960"/>
            <a:ext cx="18882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77.88%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9614916" y="2606040"/>
            <a:ext cx="18882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CLUTCH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614916" y="2898648"/>
            <a:ext cx="18882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20,105 / 25,815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086600" y="3749040"/>
            <a:ext cx="216255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7DEDA"/>
            </a:solidFill>
            <a:prstDash val="solid"/>
          </a:ln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223760" y="3931920"/>
            <a:ext cx="18882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76.05%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7223760" y="4572000"/>
            <a:ext cx="18882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PLAYOFF NON-CLUTCH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223760" y="4864608"/>
            <a:ext cx="18882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18,147 / 23,862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477756" y="3749040"/>
            <a:ext cx="2162556" cy="1737360"/>
          </a:xfrm>
          <a:prstGeom prst="roundRect">
            <a:avLst>
              <a:gd name="adj" fmla="val 4211"/>
            </a:avLst>
          </a:prstGeom>
          <a:solidFill>
            <a:srgbClr val="FBDADA"/>
          </a:solidFill>
          <a:ln w="12700">
            <a:solidFill>
              <a:srgbClr val="F7DEDA"/>
            </a:solidFill>
            <a:prstDash val="solid"/>
          </a:ln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614916" y="3931920"/>
            <a:ext cx="18882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77.97%</a:t>
            </a:r>
            <a:endParaRPr lang="en-US" sz="2700" dirty="0"/>
          </a:p>
        </p:txBody>
      </p:sp>
      <p:sp>
        <p:nvSpPr>
          <p:cNvPr id="21" name="Text 18"/>
          <p:cNvSpPr/>
          <p:nvPr/>
        </p:nvSpPr>
        <p:spPr>
          <a:xfrm>
            <a:off x="9614916" y="4572000"/>
            <a:ext cx="18882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PLAYOFF CLUTCH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9614916" y="4864608"/>
            <a:ext cx="18882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4,089 / 5,244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5760720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3D1414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760720"/>
            <a:ext cx="10451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when every attempt is pooled, clutch success is slightly higher. This does not contradict the player-level drop because weighting is different.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Performance | NBA Free Throws, 2006–07 to 2015–16 | MATLAB-based analysis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1414455" y="6382512"/>
            <a:ext cx="347472" cy="347472"/>
          </a:xfrm>
          <a:prstGeom prst="ellipse">
            <a:avLst/>
          </a:prstGeom>
          <a:solidFill>
            <a:srgbClr val="3D1414"/>
          </a:solidFill>
          <a:ln/>
        </p:spPr>
      </p:sp>
      <p:sp>
        <p:nvSpPr>
          <p:cNvPr id="27" name="Text 24"/>
          <p:cNvSpPr/>
          <p:nvPr/>
        </p:nvSpPr>
        <p:spPr>
          <a:xfrm>
            <a:off x="11414455" y="6382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Tests Show Weighting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200400" cy="457200"/>
          </a:xfrm>
          <a:prstGeom prst="rect">
            <a:avLst/>
          </a:prstGeom>
          <a:solidFill>
            <a:srgbClr val="3D141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08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49040" y="1508760"/>
            <a:ext cx="2743200" cy="457200"/>
          </a:xfrm>
          <a:prstGeom prst="rect">
            <a:avLst/>
          </a:prstGeom>
          <a:solidFill>
            <a:srgbClr val="3D1414"/>
          </a:solidFill>
          <a:ln/>
        </p:spPr>
      </p:sp>
      <p:sp>
        <p:nvSpPr>
          <p:cNvPr id="7" name="Text 5"/>
          <p:cNvSpPr/>
          <p:nvPr/>
        </p:nvSpPr>
        <p:spPr>
          <a:xfrm>
            <a:off x="3858768" y="1508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92240" y="1508760"/>
            <a:ext cx="1600200" cy="457200"/>
          </a:xfrm>
          <a:prstGeom prst="rect">
            <a:avLst/>
          </a:prstGeom>
          <a:solidFill>
            <a:srgbClr val="3D1414"/>
          </a:solidFill>
          <a:ln/>
        </p:spPr>
      </p:sp>
      <p:sp>
        <p:nvSpPr>
          <p:cNvPr id="9" name="Text 7"/>
          <p:cNvSpPr/>
          <p:nvPr/>
        </p:nvSpPr>
        <p:spPr>
          <a:xfrm>
            <a:off x="6601968" y="1508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92440" y="1508760"/>
            <a:ext cx="1371600" cy="457200"/>
          </a:xfrm>
          <a:prstGeom prst="rect">
            <a:avLst/>
          </a:prstGeom>
          <a:solidFill>
            <a:srgbClr val="3D1414"/>
          </a:solidFill>
          <a:ln/>
        </p:spPr>
      </p:sp>
      <p:sp>
        <p:nvSpPr>
          <p:cNvPr id="11" name="Text 9"/>
          <p:cNvSpPr/>
          <p:nvPr/>
        </p:nvSpPr>
        <p:spPr>
          <a:xfrm>
            <a:off x="8202168" y="1508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464040" y="1508760"/>
            <a:ext cx="2176272" cy="457200"/>
          </a:xfrm>
          <a:prstGeom prst="rect">
            <a:avLst/>
          </a:prstGeom>
          <a:solidFill>
            <a:srgbClr val="3D1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573768" y="15087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965960"/>
            <a:ext cx="11091672" cy="512064"/>
          </a:xfrm>
          <a:prstGeom prst="rect">
            <a:avLst/>
          </a:prstGeom>
          <a:solidFill>
            <a:srgbClr val="FDF3F1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65960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regular Bernoulli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58768" y="1965960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01968" y="1965960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+0.72%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02168" y="1965960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0.0119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73768" y="1965960"/>
            <a:ext cx="1993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Clutch slightly higher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478024"/>
            <a:ext cx="11091672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47802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player-season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58768" y="2478024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player-season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01968" y="2478024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−1.00%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02168" y="2478024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73768" y="2478024"/>
            <a:ext cx="1993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significant drop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2990088"/>
            <a:ext cx="11091672" cy="512064"/>
          </a:xfrm>
          <a:prstGeom prst="rect">
            <a:avLst/>
          </a:prstGeom>
          <a:solidFill>
            <a:srgbClr val="FDF3F1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2990088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≥10 clutch att.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58768" y="299008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player-season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01968" y="2990088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−1.10%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02168" y="299008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573768" y="2990088"/>
            <a:ext cx="1993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significant drop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3502152"/>
            <a:ext cx="11091672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3502152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player-level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58768" y="350215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players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01968" y="3502152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−1.27%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02168" y="3502152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573768" y="3502152"/>
            <a:ext cx="1993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significant drop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4014216"/>
            <a:ext cx="11091672" cy="512064"/>
          </a:xfrm>
          <a:prstGeom prst="rect">
            <a:avLst/>
          </a:prstGeom>
          <a:solidFill>
            <a:srgbClr val="FDF3F1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4014216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Playoffs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58768" y="401421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player-season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01968" y="4014216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+1.17%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02168" y="4014216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0.1918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573768" y="4014216"/>
            <a:ext cx="1993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 / noisy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70916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FBE6E3"/>
          </a:solidFill>
          <a:ln/>
        </p:spPr>
      </p:sp>
      <p:sp>
        <p:nvSpPr>
          <p:cNvPr id="45" name="Text 43"/>
          <p:cNvSpPr/>
          <p:nvPr/>
        </p:nvSpPr>
        <p:spPr>
          <a:xfrm>
            <a:off x="868680" y="470916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7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Playoff warning: p value is very high, so playoffs should be reported as unstable rather than confirmed.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48640" y="53949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</a:t>
            </a:r>
            <a:r>
              <a:rPr lang="en-US" sz="115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tests describe an attempt drawn from the full shot pool; player-level tests describe the average athlete.  Main answer depends on estimand: shot-weighted view ≠ average-player view.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Performance | NBA Free Throws, 2006–07 to 2015–16 | MATLAB-based analysis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1414455" y="6382512"/>
            <a:ext cx="347472" cy="347472"/>
          </a:xfrm>
          <a:prstGeom prst="ellipse">
            <a:avLst/>
          </a:prstGeom>
          <a:solidFill>
            <a:srgbClr val="3D1414"/>
          </a:solidFill>
          <a:ln/>
        </p:spPr>
      </p:sp>
      <p:sp>
        <p:nvSpPr>
          <p:cNvPr id="49" name="Text 47"/>
          <p:cNvSpPr/>
          <p:nvPr/>
        </p:nvSpPr>
        <p:spPr>
          <a:xfrm>
            <a:off x="11414455" y="6382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GRAPHS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Evidence: Distribution and Head-to-Head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FDF3F1"/>
          </a:solidFill>
          <a:ln/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regular-season player-season clutch effects</a:t>
            </a:r>
            <a:endParaRPr lang="en-US" sz="1150" dirty="0"/>
          </a:p>
        </p:txBody>
      </p:sp>
      <p:pic>
        <p:nvPicPr>
          <p:cNvPr id="6" name="Image 0" descr="/home/claude/assets/chart_hi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2148840"/>
            <a:ext cx="4937760" cy="301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45352" y="160020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FDF3F1"/>
          </a:solidFill>
          <a:ln/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73952" y="17373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Player-season clutch vs non-clutch FT%</a:t>
            </a:r>
            <a:endParaRPr lang="en-US" sz="1150" dirty="0"/>
          </a:p>
        </p:txBody>
      </p:sp>
      <p:pic>
        <p:nvPicPr>
          <p:cNvPr id="9" name="Image 1" descr="/home/claude/assets/chart_scatt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3952" y="2148840"/>
            <a:ext cx="4937760" cy="30175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3D1414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5623560"/>
            <a:ext cx="10451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show a small average regular-season drop, but not a dramatic universal collapse.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Performance | NBA Free Throws, 2006–07 to 2015–16 | MATLAB-based analysis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1414455" y="6382512"/>
            <a:ext cx="347472" cy="347472"/>
          </a:xfrm>
          <a:prstGeom prst="ellipse">
            <a:avLst/>
          </a:prstGeom>
          <a:solidFill>
            <a:srgbClr val="3D1414"/>
          </a:solidFill>
          <a:ln/>
        </p:spPr>
      </p:sp>
      <p:sp>
        <p:nvSpPr>
          <p:cNvPr id="14" name="Text 10"/>
          <p:cNvSpPr/>
          <p:nvPr/>
        </p:nvSpPr>
        <p:spPr>
          <a:xfrm>
            <a:off x="11414455" y="6382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RESAMPLING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Validation Strengthens the Player-Level Result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20,000-resample bootstrap distribution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309360" cy="2788920"/>
          </a:xfrm>
          <a:prstGeom prst="roundRect">
            <a:avLst>
              <a:gd name="adj" fmla="val 2623"/>
            </a:avLst>
          </a:prstGeom>
          <a:solidFill>
            <a:srgbClr val="FDF3F1"/>
          </a:solidFill>
          <a:ln/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pic>
        <p:nvPicPr>
          <p:cNvPr id="6" name="Image 0" descr="/home/claude/assets/chart_bootstr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920240"/>
            <a:ext cx="5852160" cy="2514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86600" y="1819656"/>
            <a:ext cx="2162556" cy="2752344"/>
          </a:xfrm>
          <a:prstGeom prst="roundRect">
            <a:avLst>
              <a:gd name="adj" fmla="val 5714"/>
            </a:avLst>
          </a:prstGeom>
          <a:solidFill>
            <a:srgbClr val="FDF3F1"/>
          </a:solidFill>
          <a:ln/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856232"/>
            <a:ext cx="1979676" cy="1143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−1.27 pp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178040" y="3429000"/>
            <a:ext cx="19796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CAREER MEAN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477756" y="1783080"/>
            <a:ext cx="2162556" cy="2788920"/>
          </a:xfrm>
          <a:prstGeom prst="roundRect">
            <a:avLst>
              <a:gd name="adj" fmla="val 5714"/>
            </a:avLst>
          </a:prstGeom>
          <a:solidFill>
            <a:srgbClr val="FBDADA"/>
          </a:solidFill>
          <a:ln/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569196" y="1856232"/>
            <a:ext cx="1979676" cy="11795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−1.26 pp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569196" y="3429000"/>
            <a:ext cx="19796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MEAN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269480" y="3291840"/>
            <a:ext cx="4187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269480" y="3703320"/>
            <a:ext cx="4187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13232" y="5184648"/>
            <a:ext cx="1076248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b = 1:bootstrapReps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idx = randi(nPlayers, nPlayers, 1);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bootMeanDiff(b) = mean(Pf.Diff(idx), 'omitnan');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BD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Performance | NBA Free Throws, 2006–07 to 2015–16 | MATLAB-based analysis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1414455" y="6382512"/>
            <a:ext cx="347472" cy="347472"/>
          </a:xfrm>
          <a:prstGeom prst="ellipse">
            <a:avLst/>
          </a:prstGeom>
          <a:solidFill>
            <a:srgbClr val="3D1414"/>
          </a:solidFill>
          <a:ln/>
        </p:spPr>
      </p:sp>
      <p:sp>
        <p:nvSpPr>
          <p:cNvPr id="21" name="Text 18"/>
          <p:cNvSpPr/>
          <p:nvPr/>
        </p:nvSpPr>
        <p:spPr>
          <a:xfrm>
            <a:off x="11414455" y="6382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SMALL-SAMPLE NOISE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 Clutch Labels Are Strongly Affected by Sample Size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DF3F1"/>
          </a:solidFill>
          <a:ln/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career clutch effect vs. career clutch attempts</a:t>
            </a:r>
            <a:endParaRPr lang="en-US" sz="1100" dirty="0"/>
          </a:p>
        </p:txBody>
      </p:sp>
      <p:pic>
        <p:nvPicPr>
          <p:cNvPr id="6" name="Image 0" descr="/home/claude/assets/chart_samplesiz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2103120"/>
            <a:ext cx="4937760" cy="2514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45352" y="160020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DF3F1"/>
          </a:solidFill>
          <a:ln/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73952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positive and negative career clutch effects</a:t>
            </a:r>
            <a:endParaRPr lang="en-US" sz="1100" dirty="0"/>
          </a:p>
        </p:txBody>
      </p:sp>
      <p:pic>
        <p:nvPicPr>
          <p:cNvPr id="9" name="Image 1" descr="/home/claude/assets/chart_topbotto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3952" y="2103120"/>
            <a:ext cx="4937760" cy="2514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5056632"/>
            <a:ext cx="246888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40080" y="5586984"/>
            <a:ext cx="2468880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704513" y="4983480"/>
            <a:ext cx="993579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clutch attempts increase, extreme apparent effects shrink. This is strong evidence of small-sample noise in player rankings.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608076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3D1414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6080760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implication: do not label individual players as reliable “chokers” from small samples.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Performance | NBA Free Throws, 2006–07 to 2015–16 | MATLAB-based analysis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1414455" y="6382512"/>
            <a:ext cx="347472" cy="347472"/>
          </a:xfrm>
          <a:prstGeom prst="ellipse">
            <a:avLst/>
          </a:prstGeom>
          <a:solidFill>
            <a:srgbClr val="3D1414"/>
          </a:solidFill>
          <a:ln/>
        </p:spPr>
      </p:sp>
      <p:sp>
        <p:nvSpPr>
          <p:cNvPr id="18" name="Text 14"/>
          <p:cNvSpPr/>
          <p:nvPr/>
        </p:nvSpPr>
        <p:spPr>
          <a:xfrm>
            <a:off x="11414455" y="6382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Conclusion and Defensible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E3F3EB"/>
          </a:solidFill>
          <a:ln/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09928"/>
            <a:ext cx="411480" cy="41148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0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0" dirty="0"/>
          </a:p>
        </p:txBody>
      </p:sp>
      <p:sp>
        <p:nvSpPr>
          <p:cNvPr id="7" name="Text 5"/>
          <p:cNvSpPr/>
          <p:nvPr/>
        </p:nvSpPr>
        <p:spPr>
          <a:xfrm>
            <a:off x="1325880" y="17282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CLAIM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49377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Clutch situations are associated with a small decrease in the average player’s free-throw percentage.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player-level drop is statistically significant but practically small.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individual clutch/choke labels are highly sensitive to sample size.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50876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BE6E3"/>
          </a:solidFill>
          <a:ln/>
          <a:effectLst>
            <a:outerShdw blurRad="101600" dist="38100" dir="5400000" algn="bl" rotWithShape="0">
              <a:srgbClr val="3D141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1709928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700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7022592" y="1728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CANNOT CLAIM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73952" y="2194560"/>
            <a:ext cx="49377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observational, so it does not prove psychological pressure caused the change.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aggregated, so consecutive-shot correlation cannot be estimated.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shot-level dataset is required for streak/hot-hand analysis.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3D141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0109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ONE-SENTENCE SUMMARY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527608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support a small negative average-player association with clutch pressure, while most dramatic individual “clutch/choke” labels are largely sample-size driven.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A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lesson: separate true effect from random variation before making performance claims.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Performance | NBA Free Throws, 2006–07 to 2015–16 | MATLAB-based analysis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414455" y="6382512"/>
            <a:ext cx="347472" cy="347472"/>
          </a:xfrm>
          <a:prstGeom prst="ellipse">
            <a:avLst/>
          </a:prstGeom>
          <a:solidFill>
            <a:srgbClr val="3D1414"/>
          </a:solidFill>
          <a:ln/>
        </p:spPr>
      </p:sp>
      <p:sp>
        <p:nvSpPr>
          <p:cNvPr id="20" name="Text 18"/>
          <p:cNvSpPr/>
          <p:nvPr/>
        </p:nvSpPr>
        <p:spPr>
          <a:xfrm>
            <a:off x="11414455" y="6382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93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4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1378</Words>
  <Application>Microsoft Office PowerPoint</Application>
  <PresentationFormat>Widescreen</PresentationFormat>
  <Paragraphs>243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Cambria</vt:lpstr>
      <vt:lpstr>Consolas</vt:lpstr>
      <vt:lpstr>Inter</vt:lpstr>
      <vt:lpstr>Inter Black</vt:lpstr>
      <vt:lpstr>Inter ExtraBold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Muktadir Hameem</dc:creator>
  <cp:keywords/>
  <dc:description>generated using python-pptx</dc:description>
  <cp:lastModifiedBy>Muktadir Hameem</cp:lastModifiedBy>
  <cp:revision>8</cp:revision>
  <dcterms:created xsi:type="dcterms:W3CDTF">2013-01-27T09:14:16Z</dcterms:created>
  <dcterms:modified xsi:type="dcterms:W3CDTF">2026-08-18T08:15:17Z</dcterms:modified>
  <cp:category/>
</cp:coreProperties>
</file>